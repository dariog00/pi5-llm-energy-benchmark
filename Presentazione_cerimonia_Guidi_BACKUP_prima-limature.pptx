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4"/>
  </p:sldMasterIdLst>
  <p:notesMasterIdLst>
    <p:notesMasterId r:id="rId6"/>
  </p:notesMasterIdLst>
  <p:sldIdLst>
    <p:sldId id="277" r:id="rId5"/>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08" autoAdjust="0"/>
    <p:restoredTop sz="94725"/>
  </p:normalViewPr>
  <p:slideViewPr>
    <p:cSldViewPr snapToGrid="0">
      <p:cViewPr>
        <p:scale>
          <a:sx n="100" d="100"/>
          <a:sy n="100" d="100"/>
        </p:scale>
        <p:origin x="72" y="-8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383589-15D9-4CFE-9B4B-26AE81DF1623}" type="datetimeFigureOut">
              <a:rPr lang="it-IT" smtClean="0"/>
              <a:t>19/07/2026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9E6542-C006-42EB-AFFB-A9CDF48A320D}" type="slidenum">
              <a:rPr lang="it-IT" smtClean="0"/>
              <a:t>‹N›</a:t>
            </a:fld>
            <a:endParaRPr lang="it-IT"/>
          </a:p>
        </p:txBody>
      </p:sp>
    </p:spTree>
    <p:extLst>
      <p:ext uri="{BB962C8B-B14F-4D97-AF65-F5344CB8AC3E}">
        <p14:creationId xmlns:p14="http://schemas.microsoft.com/office/powerpoint/2010/main" val="2009923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t>Buonasera a tutti. In parole semplici: i programmi di intelligenza artificiale come ChatGPT di solito girano su enormi centri di calcolo che consumano tantissima energia. Io mi sono chiesto se si possano far funzionare su un piccolo computer da meno di cento euro, il Raspberry Pi, consumando molto meno. Ho messo alla prova sei di questi programmi, misurando quanta energia consumano, quanto sono bravi a rispondere e quanto sono veloci. La risposta e' si': anche un dispositivo minuscolo ce la fa, in modo efficiente. E' un piccolo passo verso un'intelligenza artificiale piu' sostenibile e piu' vicina a ognuno di noi. Grazie.</a:t>
            </a:r>
          </a:p>
        </p:txBody>
      </p:sp>
      <p:sp>
        <p:nvSpPr>
          <p:cNvPr id="4" name="Segnaposto numero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EE60B4-5E75-47B1-8ECC-4F5809CE13DE}" type="slidenum">
              <a:rPr kumimoji="0" lang="it-IT"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it-IT"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7583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495965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75005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833733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04297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616163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96899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712492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234555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483283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147206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229440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7/19/2026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‹N›</a:t>
            </a:fld>
            <a:endParaRPr lang="en-US"/>
          </a:p>
        </p:txBody>
      </p:sp>
    </p:spTree>
    <p:extLst>
      <p:ext uri="{BB962C8B-B14F-4D97-AF65-F5344CB8AC3E}">
        <p14:creationId xmlns:p14="http://schemas.microsoft.com/office/powerpoint/2010/main" val="3594612030"/>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61000">
              <a:schemeClr val="accent1">
                <a:lumMod val="5000"/>
                <a:lumOff val="95000"/>
                <a:alpha val="5000"/>
              </a:schemeClr>
            </a:gs>
            <a:gs pos="0">
              <a:schemeClr val="accent1">
                <a:lumMod val="60000"/>
                <a:lumOff val="40000"/>
              </a:schemeClr>
            </a:gs>
            <a:gs pos="41500">
              <a:srgbClr val="D3E0EF"/>
            </a:gs>
            <a:gs pos="22000">
              <a:schemeClr val="accent1">
                <a:lumMod val="45000"/>
                <a:lumOff val="55000"/>
              </a:schemeClr>
            </a:gs>
            <a:gs pos="87000">
              <a:schemeClr val="accent1">
                <a:lumMod val="30000"/>
                <a:lumOff val="70000"/>
              </a:schemeClr>
            </a:gs>
          </a:gsLst>
          <a:lin ang="7200000" scaled="0"/>
          <a:tileRect/>
        </a:gradFill>
        <a:effectLst/>
      </p:bgPr>
    </p:bg>
    <p:spTree>
      <p:nvGrpSpPr>
        <p:cNvPr id="1" name=""/>
        <p:cNvGrpSpPr/>
        <p:nvPr/>
      </p:nvGrpSpPr>
      <p:grpSpPr>
        <a:xfrm>
          <a:off x="0" y="0"/>
          <a:ext cx="0" cy="0"/>
          <a:chOff x="0" y="0"/>
          <a:chExt cx="0" cy="0"/>
        </a:xfrm>
      </p:grpSpPr>
      <p:sp>
        <p:nvSpPr>
          <p:cNvPr id="3" name="AutoShape 3"/>
          <p:cNvSpPr/>
          <p:nvPr/>
        </p:nvSpPr>
        <p:spPr>
          <a:xfrm rot="-5400000">
            <a:off x="2675991" y="3644434"/>
            <a:ext cx="221229" cy="5573210"/>
          </a:xfrm>
          <a:prstGeom prst="rect">
            <a:avLst/>
          </a:prstGeom>
          <a:solidFill>
            <a:srgbClr val="000000"/>
          </a:solidFill>
        </p:spPr>
        <p:txBody>
          <a:bodyPr/>
          <a:lstStyle/>
          <a:p>
            <a:endParaRPr lang="it-IT" dirty="0"/>
          </a:p>
        </p:txBody>
      </p:sp>
      <p:grpSp>
        <p:nvGrpSpPr>
          <p:cNvPr id="4" name="Group 4"/>
          <p:cNvGrpSpPr/>
          <p:nvPr/>
        </p:nvGrpSpPr>
        <p:grpSpPr>
          <a:xfrm rot="-10800000">
            <a:off x="6348813" y="0"/>
            <a:ext cx="5843187" cy="4124189"/>
            <a:chOff x="0" y="0"/>
            <a:chExt cx="6350000" cy="6339840"/>
          </a:xfrm>
        </p:grpSpPr>
        <p:sp>
          <p:nvSpPr>
            <p:cNvPr id="5" name="Freeform 5"/>
            <p:cNvSpPr/>
            <p:nvPr/>
          </p:nvSpPr>
          <p:spPr>
            <a:xfrm>
              <a:off x="0" y="0"/>
              <a:ext cx="6350000" cy="6339840"/>
            </a:xfrm>
            <a:custGeom>
              <a:avLst/>
              <a:gdLst/>
              <a:ahLst/>
              <a:cxnLst/>
              <a:rect l="l" t="t" r="r" b="b"/>
              <a:pathLst>
                <a:path w="6350000" h="6339840">
                  <a:moveTo>
                    <a:pt x="6350000" y="6339840"/>
                  </a:moveTo>
                  <a:lnTo>
                    <a:pt x="0" y="6339840"/>
                  </a:lnTo>
                  <a:lnTo>
                    <a:pt x="0" y="0"/>
                  </a:lnTo>
                  <a:close/>
                </a:path>
              </a:pathLst>
            </a:custGeom>
            <a:solidFill>
              <a:srgbClr val="000000"/>
            </a:solidFill>
          </p:spPr>
          <p:txBody>
            <a:bodyPr/>
            <a:lstStyle/>
            <a:p>
              <a:endParaRPr lang="it-IT"/>
            </a:p>
          </p:txBody>
        </p:sp>
      </p:grpSp>
      <p:pic>
        <p:nvPicPr>
          <p:cNvPr id="6" name="Picture 6"/>
          <p:cNvPicPr>
            <a:picLocks noChangeAspect="1"/>
          </p:cNvPicPr>
          <p:nvPr/>
        </p:nvPicPr>
        <p:blipFill>
          <a:blip r:embed="rId3" cstate="print">
            <a:alphaModFix amt="65999"/>
          </a:blip>
          <a:srcRect/>
          <a:stretch>
            <a:fillRect/>
          </a:stretch>
        </p:blipFill>
        <p:spPr>
          <a:xfrm rot="2113473">
            <a:off x="9457791" y="1241140"/>
            <a:ext cx="2391368" cy="1641307"/>
          </a:xfrm>
          <a:prstGeom prst="rect">
            <a:avLst/>
          </a:prstGeom>
        </p:spPr>
      </p:pic>
      <p:pic>
        <p:nvPicPr>
          <p:cNvPr id="7" name="Picture 7"/>
          <p:cNvPicPr>
            <a:picLocks noChangeAspect="1"/>
          </p:cNvPicPr>
          <p:nvPr/>
        </p:nvPicPr>
        <p:blipFill>
          <a:blip r:embed="rId4" cstate="print"/>
          <a:srcRect/>
          <a:stretch>
            <a:fillRect/>
          </a:stretch>
        </p:blipFill>
        <p:spPr>
          <a:xfrm rot="12935635">
            <a:off x="8485418" y="1091822"/>
            <a:ext cx="2137901" cy="1068951"/>
          </a:xfrm>
          <a:prstGeom prst="rect">
            <a:avLst/>
          </a:prstGeom>
        </p:spPr>
      </p:pic>
      <p:pic>
        <p:nvPicPr>
          <p:cNvPr id="8" name="Picture 8"/>
          <p:cNvPicPr>
            <a:picLocks noChangeAspect="1"/>
          </p:cNvPicPr>
          <p:nvPr/>
        </p:nvPicPr>
        <p:blipFill>
          <a:blip r:embed="rId5" cstate="print"/>
          <a:srcRect/>
          <a:stretch>
            <a:fillRect/>
          </a:stretch>
        </p:blipFill>
        <p:spPr>
          <a:xfrm>
            <a:off x="8395891" y="1169232"/>
            <a:ext cx="1749032" cy="1785725"/>
          </a:xfrm>
          <a:prstGeom prst="rect">
            <a:avLst/>
          </a:prstGeom>
        </p:spPr>
      </p:pic>
      <p:sp>
        <p:nvSpPr>
          <p:cNvPr id="17" name="AutoShape 17"/>
          <p:cNvSpPr/>
          <p:nvPr/>
        </p:nvSpPr>
        <p:spPr>
          <a:xfrm rot="-5400000">
            <a:off x="3325708" y="-2375208"/>
            <a:ext cx="45719" cy="6697136"/>
          </a:xfrm>
          <a:prstGeom prst="rect">
            <a:avLst/>
          </a:prstGeom>
          <a:solidFill>
            <a:srgbClr val="000000"/>
          </a:solidFill>
        </p:spPr>
        <p:txBody>
          <a:bodyPr/>
          <a:lstStyle/>
          <a:p>
            <a:endParaRPr lang="it-IT"/>
          </a:p>
        </p:txBody>
      </p:sp>
      <p:grpSp>
        <p:nvGrpSpPr>
          <p:cNvPr id="18" name="Group 18"/>
          <p:cNvGrpSpPr/>
          <p:nvPr/>
        </p:nvGrpSpPr>
        <p:grpSpPr>
          <a:xfrm>
            <a:off x="6208692" y="2585628"/>
            <a:ext cx="5542805" cy="3295564"/>
            <a:chOff x="0" y="-28575"/>
            <a:chExt cx="11085609" cy="6591128"/>
          </a:xfrm>
        </p:grpSpPr>
        <p:sp>
          <p:nvSpPr>
            <p:cNvPr id="19" name="TextBox 19"/>
            <p:cNvSpPr txBox="1"/>
            <p:nvPr/>
          </p:nvSpPr>
          <p:spPr>
            <a:xfrm>
              <a:off x="0" y="-28575"/>
              <a:ext cx="11085609" cy="619914"/>
            </a:xfrm>
            <a:prstGeom prst="rect">
              <a:avLst/>
            </a:prstGeom>
          </p:spPr>
          <p:txBody>
            <a:bodyPr lIns="0" tIns="0" rIns="0" bIns="0" rtlCol="0" anchor="t">
              <a:spAutoFit/>
            </a:bodyPr>
            <a:lstStyle/>
            <a:p>
              <a:pPr defTabSz="609630">
                <a:lnSpc>
                  <a:spcPts val="2773"/>
                </a:lnSpc>
              </a:pPr>
              <a:endParaRPr sz="1200">
                <a:solidFill>
                  <a:prstClr val="black"/>
                </a:solidFill>
                <a:latin typeface="Calibri"/>
              </a:endParaRPr>
            </a:p>
          </p:txBody>
        </p:sp>
        <p:sp>
          <p:nvSpPr>
            <p:cNvPr id="21" name="TextBox 21"/>
            <p:cNvSpPr txBox="1"/>
            <p:nvPr/>
          </p:nvSpPr>
          <p:spPr>
            <a:xfrm>
              <a:off x="0" y="2384695"/>
              <a:ext cx="11085609" cy="619914"/>
            </a:xfrm>
            <a:prstGeom prst="rect">
              <a:avLst/>
            </a:prstGeom>
          </p:spPr>
          <p:txBody>
            <a:bodyPr lIns="0" tIns="0" rIns="0" bIns="0" rtlCol="0" anchor="t">
              <a:spAutoFit/>
            </a:bodyPr>
            <a:lstStyle/>
            <a:p>
              <a:pPr defTabSz="609630">
                <a:lnSpc>
                  <a:spcPts val="2773"/>
                </a:lnSpc>
              </a:pPr>
              <a:endParaRPr sz="1200">
                <a:solidFill>
                  <a:prstClr val="black"/>
                </a:solidFill>
                <a:latin typeface="Calibri"/>
              </a:endParaRPr>
            </a:p>
          </p:txBody>
        </p:sp>
        <p:sp>
          <p:nvSpPr>
            <p:cNvPr id="24" name="TextBox 24"/>
            <p:cNvSpPr txBox="1"/>
            <p:nvPr/>
          </p:nvSpPr>
          <p:spPr>
            <a:xfrm>
              <a:off x="0" y="5904167"/>
              <a:ext cx="11085609" cy="658386"/>
            </a:xfrm>
            <a:prstGeom prst="rect">
              <a:avLst/>
            </a:prstGeom>
          </p:spPr>
          <p:txBody>
            <a:bodyPr lIns="0" tIns="0" rIns="0" bIns="0" rtlCol="0" anchor="t">
              <a:spAutoFit/>
            </a:bodyPr>
            <a:lstStyle/>
            <a:p>
              <a:pPr defTabSz="609630">
                <a:lnSpc>
                  <a:spcPts val="3000"/>
                </a:lnSpc>
              </a:pPr>
              <a:endParaRPr sz="1200">
                <a:solidFill>
                  <a:prstClr val="black"/>
                </a:solidFill>
                <a:latin typeface="Calibri"/>
              </a:endParaRPr>
            </a:p>
          </p:txBody>
        </p:sp>
      </p:grpSp>
      <p:sp>
        <p:nvSpPr>
          <p:cNvPr id="23" name="TextBox 22">
            <a:extLst>
              <a:ext uri="{FF2B5EF4-FFF2-40B4-BE49-F238E27FC236}">
                <a16:creationId xmlns:a16="http://schemas.microsoft.com/office/drawing/2014/main" id="{9B8EA501-835F-484F-B384-C4D371500386}"/>
              </a:ext>
            </a:extLst>
          </p:cNvPr>
          <p:cNvSpPr txBox="1"/>
          <p:nvPr/>
        </p:nvSpPr>
        <p:spPr>
          <a:xfrm>
            <a:off x="5618967" y="4327037"/>
            <a:ext cx="6392703" cy="733342"/>
          </a:xfrm>
          <a:prstGeom prst="rect">
            <a:avLst/>
          </a:prstGeom>
        </p:spPr>
        <p:txBody>
          <a:bodyPr wrap="square" lIns="0" tIns="0" rIns="0" bIns="0" rtlCol="0" anchor="t">
            <a:spAutoFit/>
          </a:bodyPr>
          <a:lstStyle/>
          <a:p>
            <a:pPr defTabSz="609630">
              <a:lnSpc>
                <a:spcPts val="3000"/>
              </a:lnSpc>
            </a:pPr>
            <a:endParaRPr lang="en-US" sz="800" b="1" spc="20" dirty="0">
              <a:solidFill>
                <a:srgbClr val="F2F0F4"/>
              </a:solidFill>
              <a:latin typeface="Times New Roman" pitchFamily="18" charset="0"/>
              <a:cs typeface="Times New Roman" pitchFamily="18" charset="0"/>
            </a:endParaRPr>
          </a:p>
          <a:p>
            <a:pPr defTabSz="609630">
              <a:lnSpc>
                <a:spcPts val="3000"/>
              </a:lnSpc>
            </a:pPr>
            <a:endParaRPr lang="en-US" sz="2000" b="1" spc="20" dirty="0">
              <a:solidFill>
                <a:srgbClr val="F2F0F4"/>
              </a:solidFill>
              <a:latin typeface="Times New Roman" pitchFamily="18" charset="0"/>
              <a:cs typeface="Times New Roman" pitchFamily="18" charset="0"/>
            </a:endParaRPr>
          </a:p>
        </p:txBody>
      </p:sp>
      <p:grpSp>
        <p:nvGrpSpPr>
          <p:cNvPr id="27" name="Group 18">
            <a:extLst>
              <a:ext uri="{FF2B5EF4-FFF2-40B4-BE49-F238E27FC236}">
                <a16:creationId xmlns:a16="http://schemas.microsoft.com/office/drawing/2014/main" id="{AD235C3A-AD37-456B-8F0E-D2AFFCCF60F9}"/>
              </a:ext>
            </a:extLst>
          </p:cNvPr>
          <p:cNvGrpSpPr/>
          <p:nvPr/>
        </p:nvGrpSpPr>
        <p:grpSpPr>
          <a:xfrm>
            <a:off x="6242796" y="2853404"/>
            <a:ext cx="5542805" cy="3295564"/>
            <a:chOff x="0" y="-28575"/>
            <a:chExt cx="11085609" cy="6591128"/>
          </a:xfrm>
        </p:grpSpPr>
        <p:sp>
          <p:nvSpPr>
            <p:cNvPr id="28" name="TextBox 19">
              <a:extLst>
                <a:ext uri="{FF2B5EF4-FFF2-40B4-BE49-F238E27FC236}">
                  <a16:creationId xmlns:a16="http://schemas.microsoft.com/office/drawing/2014/main" id="{6C160FFC-BF29-40F3-9662-4F5DC9DA4EF0}"/>
                </a:ext>
              </a:extLst>
            </p:cNvPr>
            <p:cNvSpPr txBox="1"/>
            <p:nvPr/>
          </p:nvSpPr>
          <p:spPr>
            <a:xfrm>
              <a:off x="0" y="-28575"/>
              <a:ext cx="11085609" cy="619914"/>
            </a:xfrm>
            <a:prstGeom prst="rect">
              <a:avLst/>
            </a:prstGeom>
          </p:spPr>
          <p:txBody>
            <a:bodyPr lIns="0" tIns="0" rIns="0" bIns="0" rtlCol="0" anchor="t">
              <a:spAutoFit/>
            </a:bodyPr>
            <a:lstStyle/>
            <a:p>
              <a:pPr defTabSz="609630">
                <a:lnSpc>
                  <a:spcPts val="2773"/>
                </a:lnSpc>
              </a:pPr>
              <a:endParaRPr sz="1200">
                <a:solidFill>
                  <a:prstClr val="black"/>
                </a:solidFill>
                <a:latin typeface="Calibri"/>
              </a:endParaRPr>
            </a:p>
          </p:txBody>
        </p:sp>
        <p:sp>
          <p:nvSpPr>
            <p:cNvPr id="29" name="TextBox 20">
              <a:extLst>
                <a:ext uri="{FF2B5EF4-FFF2-40B4-BE49-F238E27FC236}">
                  <a16:creationId xmlns:a16="http://schemas.microsoft.com/office/drawing/2014/main" id="{37A003FB-B7AE-4AB2-978F-771A1EA796A4}"/>
                </a:ext>
              </a:extLst>
            </p:cNvPr>
            <p:cNvSpPr txBox="1"/>
            <p:nvPr/>
          </p:nvSpPr>
          <p:spPr>
            <a:xfrm>
              <a:off x="0" y="1098185"/>
              <a:ext cx="11085609" cy="658386"/>
            </a:xfrm>
            <a:prstGeom prst="rect">
              <a:avLst/>
            </a:prstGeom>
          </p:spPr>
          <p:txBody>
            <a:bodyPr lIns="0" tIns="0" rIns="0" bIns="0" rtlCol="0" anchor="t">
              <a:spAutoFit/>
            </a:bodyPr>
            <a:lstStyle/>
            <a:p>
              <a:pPr defTabSz="609630">
                <a:lnSpc>
                  <a:spcPts val="3000"/>
                </a:lnSpc>
              </a:pPr>
              <a:endParaRPr sz="1200">
                <a:solidFill>
                  <a:prstClr val="black"/>
                </a:solidFill>
                <a:latin typeface="Calibri"/>
              </a:endParaRPr>
            </a:p>
          </p:txBody>
        </p:sp>
        <p:sp>
          <p:nvSpPr>
            <p:cNvPr id="30" name="TextBox 21">
              <a:extLst>
                <a:ext uri="{FF2B5EF4-FFF2-40B4-BE49-F238E27FC236}">
                  <a16:creationId xmlns:a16="http://schemas.microsoft.com/office/drawing/2014/main" id="{44FB01D0-B2AF-4013-BD0D-EE6A420013C5}"/>
                </a:ext>
              </a:extLst>
            </p:cNvPr>
            <p:cNvSpPr txBox="1"/>
            <p:nvPr/>
          </p:nvSpPr>
          <p:spPr>
            <a:xfrm>
              <a:off x="0" y="2384695"/>
              <a:ext cx="11085609" cy="619914"/>
            </a:xfrm>
            <a:prstGeom prst="rect">
              <a:avLst/>
            </a:prstGeom>
          </p:spPr>
          <p:txBody>
            <a:bodyPr lIns="0" tIns="0" rIns="0" bIns="0" rtlCol="0" anchor="t">
              <a:spAutoFit/>
            </a:bodyPr>
            <a:lstStyle/>
            <a:p>
              <a:pPr defTabSz="609630">
                <a:lnSpc>
                  <a:spcPts val="2773"/>
                </a:lnSpc>
              </a:pPr>
              <a:endParaRPr sz="1200">
                <a:solidFill>
                  <a:prstClr val="black"/>
                </a:solidFill>
                <a:latin typeface="Calibri"/>
              </a:endParaRPr>
            </a:p>
          </p:txBody>
        </p:sp>
        <p:sp>
          <p:nvSpPr>
            <p:cNvPr id="31" name="TextBox 22">
              <a:extLst>
                <a:ext uri="{FF2B5EF4-FFF2-40B4-BE49-F238E27FC236}">
                  <a16:creationId xmlns:a16="http://schemas.microsoft.com/office/drawing/2014/main" id="{421DA5D8-F9E7-4C92-A2B2-C01D4DBDAA0F}"/>
                </a:ext>
              </a:extLst>
            </p:cNvPr>
            <p:cNvSpPr txBox="1"/>
            <p:nvPr/>
          </p:nvSpPr>
          <p:spPr>
            <a:xfrm>
              <a:off x="0" y="3511453"/>
              <a:ext cx="11085609" cy="697244"/>
            </a:xfrm>
            <a:prstGeom prst="rect">
              <a:avLst/>
            </a:prstGeom>
          </p:spPr>
          <p:txBody>
            <a:bodyPr lIns="0" tIns="0" rIns="0" bIns="0" rtlCol="0" anchor="t">
              <a:spAutoFit/>
            </a:bodyPr>
            <a:lstStyle/>
            <a:p>
              <a:pPr defTabSz="609630">
                <a:lnSpc>
                  <a:spcPts val="3000"/>
                </a:lnSpc>
              </a:pPr>
              <a:endParaRPr lang="en-US" sz="2000" b="1" spc="20" dirty="0">
                <a:solidFill>
                  <a:srgbClr val="F2F0F4"/>
                </a:solidFill>
                <a:latin typeface="Times New Roman" pitchFamily="18" charset="0"/>
                <a:cs typeface="Times New Roman" pitchFamily="18" charset="0"/>
              </a:endParaRPr>
            </a:p>
          </p:txBody>
        </p:sp>
        <p:sp>
          <p:nvSpPr>
            <p:cNvPr id="32" name="TextBox 23">
              <a:extLst>
                <a:ext uri="{FF2B5EF4-FFF2-40B4-BE49-F238E27FC236}">
                  <a16:creationId xmlns:a16="http://schemas.microsoft.com/office/drawing/2014/main" id="{2D2E34D3-BE8D-4319-910B-C2640377823E}"/>
                </a:ext>
              </a:extLst>
            </p:cNvPr>
            <p:cNvSpPr txBox="1"/>
            <p:nvPr/>
          </p:nvSpPr>
          <p:spPr>
            <a:xfrm>
              <a:off x="0" y="4806831"/>
              <a:ext cx="11085609" cy="620300"/>
            </a:xfrm>
            <a:prstGeom prst="rect">
              <a:avLst/>
            </a:prstGeom>
          </p:spPr>
          <p:txBody>
            <a:bodyPr lIns="0" tIns="0" rIns="0" bIns="0" rtlCol="0" anchor="t">
              <a:spAutoFit/>
            </a:bodyPr>
            <a:lstStyle/>
            <a:p>
              <a:pPr defTabSz="609630">
                <a:lnSpc>
                  <a:spcPts val="2600"/>
                </a:lnSpc>
              </a:pPr>
              <a:endParaRPr lang="en-US" sz="2000" b="1" spc="180" dirty="0">
                <a:solidFill>
                  <a:srgbClr val="F2F0F4"/>
                </a:solidFill>
                <a:latin typeface="Times New Roman" pitchFamily="18" charset="0"/>
                <a:cs typeface="Times New Roman" pitchFamily="18" charset="0"/>
              </a:endParaRPr>
            </a:p>
          </p:txBody>
        </p:sp>
        <p:sp>
          <p:nvSpPr>
            <p:cNvPr id="33" name="TextBox 24">
              <a:extLst>
                <a:ext uri="{FF2B5EF4-FFF2-40B4-BE49-F238E27FC236}">
                  <a16:creationId xmlns:a16="http://schemas.microsoft.com/office/drawing/2014/main" id="{46756D82-5ADF-430B-B905-23098C200493}"/>
                </a:ext>
              </a:extLst>
            </p:cNvPr>
            <p:cNvSpPr txBox="1"/>
            <p:nvPr/>
          </p:nvSpPr>
          <p:spPr>
            <a:xfrm>
              <a:off x="0" y="5904167"/>
              <a:ext cx="11085609" cy="658386"/>
            </a:xfrm>
            <a:prstGeom prst="rect">
              <a:avLst/>
            </a:prstGeom>
          </p:spPr>
          <p:txBody>
            <a:bodyPr lIns="0" tIns="0" rIns="0" bIns="0" rtlCol="0" anchor="t">
              <a:spAutoFit/>
            </a:bodyPr>
            <a:lstStyle/>
            <a:p>
              <a:pPr defTabSz="609630">
                <a:lnSpc>
                  <a:spcPts val="3000"/>
                </a:lnSpc>
              </a:pPr>
              <a:endParaRPr sz="1200">
                <a:solidFill>
                  <a:prstClr val="black"/>
                </a:solidFill>
                <a:latin typeface="Calibri"/>
              </a:endParaRPr>
            </a:p>
          </p:txBody>
        </p:sp>
      </p:grpSp>
      <p:sp>
        <p:nvSpPr>
          <p:cNvPr id="2" name="CasellaDiTesto 3">
            <a:extLst>
              <a:ext uri="{FF2B5EF4-FFF2-40B4-BE49-F238E27FC236}">
                <a16:creationId xmlns:a16="http://schemas.microsoft.com/office/drawing/2014/main" id="{6A00E37B-C9F2-4FCD-F63D-5A5BAAC82A49}"/>
              </a:ext>
            </a:extLst>
          </p:cNvPr>
          <p:cNvSpPr txBox="1">
            <a:spLocks noChangeArrowheads="1"/>
          </p:cNvSpPr>
          <p:nvPr/>
        </p:nvSpPr>
        <p:spPr bwMode="auto">
          <a:xfrm>
            <a:off x="100055" y="256643"/>
            <a:ext cx="8833991" cy="523220"/>
          </a:xfrm>
          <a:prstGeom prst="rect">
            <a:avLst/>
          </a:prstGeom>
          <a:noFill/>
          <a:ln w="9525">
            <a:noFill/>
            <a:miter lim="800000"/>
            <a:headEnd/>
            <a:tailEnd/>
          </a:ln>
        </p:spPr>
        <p:txBody>
          <a:bodyPr wrap="square">
            <a:spAutoFit/>
          </a:bodyPr>
          <a:lstStyle/>
          <a:p>
            <a:pPr eaLnBrk="0" hangingPunct="0"/>
            <a:r>
              <a:rPr lang="en-GB" sz="2800" b="1" dirty="0"/>
              <a:t>Corso di </a:t>
            </a:r>
            <a:r>
              <a:rPr lang="en-GB" sz="2800" b="1" dirty="0" err="1"/>
              <a:t>laurea</a:t>
            </a:r>
            <a:r>
              <a:rPr lang="en-GB" sz="2800" b="1" dirty="0"/>
              <a:t> in Ingegneria Informatica</a:t>
            </a:r>
          </a:p>
        </p:txBody>
      </p:sp>
      <p:sp>
        <p:nvSpPr>
          <p:cNvPr id="10" name="CasellaDiTesto 9">
            <a:extLst>
              <a:ext uri="{FF2B5EF4-FFF2-40B4-BE49-F238E27FC236}">
                <a16:creationId xmlns:a16="http://schemas.microsoft.com/office/drawing/2014/main" id="{DE6DEE76-0B03-A5FD-45DF-EF94C375475D}"/>
              </a:ext>
            </a:extLst>
          </p:cNvPr>
          <p:cNvSpPr txBox="1"/>
          <p:nvPr/>
        </p:nvSpPr>
        <p:spPr>
          <a:xfrm>
            <a:off x="220435" y="3221309"/>
            <a:ext cx="5172464" cy="3093154"/>
          </a:xfrm>
          <a:prstGeom prst="rect">
            <a:avLst/>
          </a:prstGeom>
          <a:noFill/>
        </p:spPr>
        <p:txBody>
          <a:bodyPr wrap="square" rtlCol="0">
            <a:spAutoFit/>
          </a:bodyPr>
          <a:lstStyle/>
          <a:p>
            <a:r>
              <a:rPr lang="it-IT" sz="1500" dirty="0"/>
              <a:t>I </a:t>
            </a:r>
            <a:r>
              <a:rPr lang="it-IT" sz="1500" b="1" dirty="0"/>
              <a:t>modelli di intelligenza artificiale</a:t>
            </a:r>
            <a:r>
              <a:rPr lang="it-IT" sz="1500" dirty="0"/>
              <a:t>, come ad esempio </a:t>
            </a:r>
            <a:r>
              <a:rPr lang="it-IT" sz="1500" i="1" dirty="0"/>
              <a:t>ChatGPT</a:t>
            </a:r>
            <a:r>
              <a:rPr lang="it-IT" sz="1500" dirty="0"/>
              <a:t>, di solito funzionano su </a:t>
            </a:r>
            <a:r>
              <a:rPr lang="it-IT" sz="1500" b="1" dirty="0"/>
              <a:t>enormi centri di calcolo</a:t>
            </a:r>
            <a:r>
              <a:rPr lang="it-IT" sz="1500" dirty="0"/>
              <a:t> che </a:t>
            </a:r>
            <a:r>
              <a:rPr lang="it-IT" sz="1500" b="1" dirty="0"/>
              <a:t>consumano moltissima energia</a:t>
            </a:r>
            <a:r>
              <a:rPr lang="it-IT" sz="1500" dirty="0"/>
              <a:t>. In questa tesi ho verificato l’esistenza di alcuni modelli diversi adatti per girare direttamente su </a:t>
            </a:r>
            <a:r>
              <a:rPr lang="it-IT" sz="1500" b="1" dirty="0"/>
              <a:t>un piccolo computer </a:t>
            </a:r>
            <a:r>
              <a:rPr lang="it-IT" sz="1500" dirty="0"/>
              <a:t>da meno di cento euro, il </a:t>
            </a:r>
            <a:r>
              <a:rPr lang="it-IT" sz="1500" i="1" dirty="0"/>
              <a:t>Raspberry Pi 5</a:t>
            </a:r>
            <a:r>
              <a:rPr lang="it-IT" sz="1500" dirty="0"/>
              <a:t> (RAM 8 GB), </a:t>
            </a:r>
            <a:r>
              <a:rPr lang="it-IT" sz="1500" b="1" dirty="0"/>
              <a:t>consumando poco</a:t>
            </a:r>
            <a:r>
              <a:rPr lang="it-IT" sz="1500" dirty="0"/>
              <a:t>. Ho confrontato </a:t>
            </a:r>
            <a:r>
              <a:rPr lang="it-IT" sz="1500" b="1" dirty="0"/>
              <a:t>sei </a:t>
            </a:r>
            <a:r>
              <a:rPr lang="it-IT" sz="1500" dirty="0"/>
              <a:t>di questi</a:t>
            </a:r>
            <a:r>
              <a:rPr lang="it-IT" sz="1500" b="1" dirty="0"/>
              <a:t> </a:t>
            </a:r>
            <a:r>
              <a:rPr lang="it-IT" sz="1500" dirty="0"/>
              <a:t>modelli</a:t>
            </a:r>
            <a:r>
              <a:rPr lang="it-IT" sz="1500" b="1" dirty="0"/>
              <a:t> </a:t>
            </a:r>
            <a:r>
              <a:rPr lang="it-IT" sz="1500" dirty="0"/>
              <a:t>misurando </a:t>
            </a:r>
            <a:r>
              <a:rPr lang="it-IT" sz="1500" b="1" dirty="0"/>
              <a:t>quanta energia usano</a:t>
            </a:r>
            <a:r>
              <a:rPr lang="it-IT" sz="1500" dirty="0"/>
              <a:t>, </a:t>
            </a:r>
            <a:r>
              <a:rPr lang="it-IT" sz="1500" b="1" dirty="0"/>
              <a:t>quanto sono bravi a rispondere </a:t>
            </a:r>
            <a:r>
              <a:rPr lang="it-IT" sz="1500" dirty="0"/>
              <a:t>e </a:t>
            </a:r>
            <a:r>
              <a:rPr lang="it-IT" sz="1500" b="1" dirty="0"/>
              <a:t>quanto sono veloci</a:t>
            </a:r>
            <a:r>
              <a:rPr lang="it-IT" sz="1500" dirty="0"/>
              <a:t> attraverso il framework </a:t>
            </a:r>
            <a:r>
              <a:rPr lang="it-IT" sz="1500" i="1" dirty="0"/>
              <a:t>llama.cpp</a:t>
            </a:r>
            <a:r>
              <a:rPr lang="it-IT" sz="1500" dirty="0"/>
              <a:t> e le letture della potenza istantanea dal circuito integrato </a:t>
            </a:r>
            <a:r>
              <a:rPr lang="it-IT" sz="1500" i="1" dirty="0"/>
              <a:t>PMIC</a:t>
            </a:r>
            <a:r>
              <a:rPr lang="it-IT" sz="1500" dirty="0"/>
              <a:t> (</a:t>
            </a:r>
            <a:r>
              <a:rPr lang="it-IT" sz="1500" i="1" dirty="0"/>
              <a:t>Power Management </a:t>
            </a:r>
            <a:r>
              <a:rPr lang="it-IT" sz="1500" i="1" dirty="0" err="1"/>
              <a:t>Integrated</a:t>
            </a:r>
            <a:r>
              <a:rPr lang="it-IT" sz="1500" i="1" dirty="0"/>
              <a:t> Circuit</a:t>
            </a:r>
            <a:r>
              <a:rPr lang="it-IT" sz="1500" dirty="0"/>
              <a:t>).</a:t>
            </a:r>
          </a:p>
          <a:p>
            <a:r>
              <a:rPr lang="it-IT" sz="1500" dirty="0"/>
              <a:t>Il </a:t>
            </a:r>
            <a:r>
              <a:rPr lang="it-IT" sz="1500" b="1" dirty="0"/>
              <a:t>risultato e' positivo</a:t>
            </a:r>
            <a:r>
              <a:rPr lang="it-IT" sz="1500" dirty="0"/>
              <a:t>: anche un dispositivo minuscolo riesce a eseguire modelli - anche grossi - in modo efficiente, un passo verso </a:t>
            </a:r>
            <a:r>
              <a:rPr lang="it-IT" sz="1500" b="1" dirty="0"/>
              <a:t>un'intelligenza artificiale piu' sostenibile </a:t>
            </a:r>
            <a:r>
              <a:rPr lang="it-IT" sz="1500" dirty="0"/>
              <a:t>e </a:t>
            </a:r>
            <a:r>
              <a:rPr lang="it-IT" sz="1500" b="1" dirty="0"/>
              <a:t>vicina a noi</a:t>
            </a:r>
            <a:r>
              <a:rPr lang="it-IT" sz="1500" dirty="0"/>
              <a:t>.</a:t>
            </a:r>
          </a:p>
        </p:txBody>
      </p:sp>
      <p:sp>
        <p:nvSpPr>
          <p:cNvPr id="11" name="Rettangolo 10">
            <a:extLst>
              <a:ext uri="{FF2B5EF4-FFF2-40B4-BE49-F238E27FC236}">
                <a16:creationId xmlns:a16="http://schemas.microsoft.com/office/drawing/2014/main" id="{BBE69380-4E78-8FCB-500B-9AFAD29BD2C9}"/>
              </a:ext>
            </a:extLst>
          </p:cNvPr>
          <p:cNvSpPr/>
          <p:nvPr/>
        </p:nvSpPr>
        <p:spPr bwMode="auto">
          <a:xfrm>
            <a:off x="6222846" y="3163641"/>
            <a:ext cx="3685803" cy="3312368"/>
          </a:xfrm>
          <a:prstGeom prst="rect">
            <a:avLst/>
          </a:prstGeom>
          <a:solidFill>
            <a:schemeClr val="tx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endParaRPr/>
          </a:p>
        </p:txBody>
      </p:sp>
      <p:sp>
        <p:nvSpPr>
          <p:cNvPr id="12" name="CasellaDiTesto 11">
            <a:extLst>
              <a:ext uri="{FF2B5EF4-FFF2-40B4-BE49-F238E27FC236}">
                <a16:creationId xmlns:a16="http://schemas.microsoft.com/office/drawing/2014/main" id="{F5A7F071-42B3-9EAF-0C29-0191EDA9E415}"/>
              </a:ext>
            </a:extLst>
          </p:cNvPr>
          <p:cNvSpPr txBox="1"/>
          <p:nvPr/>
        </p:nvSpPr>
        <p:spPr>
          <a:xfrm>
            <a:off x="170094" y="1541403"/>
            <a:ext cx="8693912" cy="1323439"/>
          </a:xfrm>
          <a:prstGeom prst="rect">
            <a:avLst/>
          </a:prstGeom>
          <a:noFill/>
          <a:ln w="28575">
            <a:noFill/>
          </a:ln>
        </p:spPr>
        <p:txBody>
          <a:bodyPr wrap="square" rtlCol="0">
            <a:spAutoFit/>
          </a:bodyPr>
          <a:lstStyle/>
          <a:p>
            <a:r>
              <a:rPr lang="en-GB" sz="2000" b="1" i="1" dirty="0" err="1"/>
              <a:t>Prova</a:t>
            </a:r>
            <a:r>
              <a:rPr lang="en-GB" sz="2000" b="1" i="1" dirty="0"/>
              <a:t> finale</a:t>
            </a:r>
          </a:p>
          <a:p>
            <a:r>
              <a:rPr lang="en-GB" sz="2000" b="1" dirty="0" err="1"/>
              <a:t>Valutazione</a:t>
            </a:r>
            <a:r>
              <a:rPr lang="en-GB" sz="2000" b="1" dirty="0"/>
              <a:t> del </a:t>
            </a:r>
            <a:r>
              <a:rPr lang="en-GB" sz="2000" b="1" dirty="0" err="1"/>
              <a:t>consumo</a:t>
            </a:r>
            <a:r>
              <a:rPr lang="en-GB" sz="2000" b="1" dirty="0"/>
              <a:t> </a:t>
            </a:r>
            <a:r>
              <a:rPr lang="en-GB" sz="2000" b="1" dirty="0" err="1"/>
              <a:t>energetico</a:t>
            </a:r>
            <a:r>
              <a:rPr lang="en-GB" sz="2000" b="1" dirty="0"/>
              <a:t> di Large Language Model in </a:t>
            </a:r>
            <a:r>
              <a:rPr lang="en-GB" sz="2000" b="1" dirty="0" err="1"/>
              <a:t>dispositivi</a:t>
            </a:r>
            <a:r>
              <a:rPr lang="en-GB" sz="2000" b="1" dirty="0"/>
              <a:t> </a:t>
            </a:r>
            <a:r>
              <a:rPr lang="en-GB" sz="2000" b="1" dirty="0" err="1"/>
              <a:t>dell’Internet</a:t>
            </a:r>
            <a:r>
              <a:rPr lang="en-GB" sz="2000" b="1" dirty="0"/>
              <a:t> delle Cose</a:t>
            </a:r>
          </a:p>
          <a:p>
            <a:endParaRPr lang="en-GB" sz="2000" b="1" dirty="0"/>
          </a:p>
        </p:txBody>
      </p:sp>
      <p:sp>
        <p:nvSpPr>
          <p:cNvPr id="13" name="AutoShape 17">
            <a:extLst>
              <a:ext uri="{FF2B5EF4-FFF2-40B4-BE49-F238E27FC236}">
                <a16:creationId xmlns:a16="http://schemas.microsoft.com/office/drawing/2014/main" id="{859A3A89-965B-B393-62B8-47A3E3B0CA89}"/>
              </a:ext>
            </a:extLst>
          </p:cNvPr>
          <p:cNvSpPr/>
          <p:nvPr/>
        </p:nvSpPr>
        <p:spPr>
          <a:xfrm rot="16200000" flipH="1">
            <a:off x="2740972" y="253861"/>
            <a:ext cx="91265" cy="5573213"/>
          </a:xfrm>
          <a:prstGeom prst="rect">
            <a:avLst/>
          </a:prstGeom>
          <a:solidFill>
            <a:srgbClr val="000000"/>
          </a:solidFill>
        </p:spPr>
        <p:txBody>
          <a:bodyPr/>
          <a:lstStyle/>
          <a:p>
            <a:endParaRPr lang="it-IT"/>
          </a:p>
        </p:txBody>
      </p:sp>
      <p:sp>
        <p:nvSpPr>
          <p:cNvPr id="15" name="CasellaDiTesto 3">
            <a:extLst>
              <a:ext uri="{FF2B5EF4-FFF2-40B4-BE49-F238E27FC236}">
                <a16:creationId xmlns:a16="http://schemas.microsoft.com/office/drawing/2014/main" id="{DE6692DC-33FF-DFAD-D600-E030455DAA00}"/>
              </a:ext>
            </a:extLst>
          </p:cNvPr>
          <p:cNvSpPr txBox="1">
            <a:spLocks noChangeArrowheads="1"/>
          </p:cNvSpPr>
          <p:nvPr/>
        </p:nvSpPr>
        <p:spPr bwMode="auto">
          <a:xfrm>
            <a:off x="148996" y="1026611"/>
            <a:ext cx="6073850" cy="523220"/>
          </a:xfrm>
          <a:prstGeom prst="rect">
            <a:avLst/>
          </a:prstGeom>
          <a:noFill/>
          <a:ln w="9525">
            <a:noFill/>
            <a:miter lim="800000"/>
            <a:headEnd/>
            <a:tailEnd/>
          </a:ln>
        </p:spPr>
        <p:txBody>
          <a:bodyPr wrap="square">
            <a:spAutoFit/>
          </a:bodyPr>
          <a:lstStyle/>
          <a:p>
            <a:pPr eaLnBrk="0" hangingPunct="0"/>
            <a:r>
              <a:rPr lang="en-GB" sz="2800" b="1" dirty="0" err="1"/>
              <a:t>Laureato</a:t>
            </a:r>
            <a:r>
              <a:rPr lang="en-GB" sz="2800" b="1" dirty="0"/>
              <a:t>: </a:t>
            </a:r>
            <a:r>
              <a:rPr lang="en-GB" sz="2800" b="1" dirty="0" err="1"/>
              <a:t>Dott. Dario Guidi</a:t>
            </a:r>
          </a:p>
        </p:txBody>
      </p:sp>
      <p:sp>
        <p:nvSpPr>
          <p:cNvPr id="20" name="CasellaDiTesto 3">
            <a:extLst>
              <a:ext uri="{FF2B5EF4-FFF2-40B4-BE49-F238E27FC236}">
                <a16:creationId xmlns:a16="http://schemas.microsoft.com/office/drawing/2014/main" id="{27DF14AF-9B67-63E9-85BB-C4F12854F3C0}"/>
              </a:ext>
            </a:extLst>
          </p:cNvPr>
          <p:cNvSpPr txBox="1">
            <a:spLocks noChangeArrowheads="1"/>
          </p:cNvSpPr>
          <p:nvPr/>
        </p:nvSpPr>
        <p:spPr bwMode="auto">
          <a:xfrm>
            <a:off x="134842" y="2599707"/>
            <a:ext cx="4500214" cy="369332"/>
          </a:xfrm>
          <a:prstGeom prst="rect">
            <a:avLst/>
          </a:prstGeom>
          <a:noFill/>
          <a:ln w="9525">
            <a:noFill/>
            <a:miter lim="800000"/>
            <a:headEnd/>
            <a:tailEnd/>
          </a:ln>
        </p:spPr>
        <p:txBody>
          <a:bodyPr wrap="square">
            <a:spAutoFit/>
          </a:bodyPr>
          <a:lstStyle/>
          <a:p>
            <a:pPr eaLnBrk="0" hangingPunct="0"/>
            <a:r>
              <a:rPr lang="en-GB" b="1" dirty="0" err="1"/>
              <a:t>Relatore</a:t>
            </a:r>
            <a:r>
              <a:rPr lang="en-GB" b="1" dirty="0"/>
              <a:t>: Prof. Alessio Vecchio</a:t>
            </a:r>
          </a:p>
        </p:txBody>
      </p:sp>
      <p:pic>
        <p:nvPicPr>
          <p:cNvPr id="34" name="Picture 33" descr="diagram_v6.png"/>
          <p:cNvPicPr>
            <a:picLocks noChangeAspect="1"/>
          </p:cNvPicPr>
          <p:nvPr/>
        </p:nvPicPr>
        <p:blipFill>
          <a:blip r:embed="rId6"/>
          <a:stretch>
            <a:fillRect/>
          </a:stretch>
        </p:blipFill>
        <p:spPr>
          <a:xfrm>
            <a:off x="6225671" y="3163641"/>
            <a:ext cx="3680153" cy="33123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5DAC3ED0EBB8B4F9FE54EF51318C557" ma:contentTypeVersion="4" ma:contentTypeDescription="Create a new document." ma:contentTypeScope="" ma:versionID="7e005ef059e69192172a5c7396b466fc">
  <xsd:schema xmlns:xsd="http://www.w3.org/2001/XMLSchema" xmlns:xs="http://www.w3.org/2001/XMLSchema" xmlns:p="http://schemas.microsoft.com/office/2006/metadata/properties" xmlns:ns2="b8f38329-fe82-4838-8fdd-4280d7b6e94e" targetNamespace="http://schemas.microsoft.com/office/2006/metadata/properties" ma:root="true" ma:fieldsID="424c390e64b462513100b9a7e084c2fa" ns2:_="">
    <xsd:import namespace="b8f38329-fe82-4838-8fdd-4280d7b6e94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f38329-fe82-4838-8fdd-4280d7b6e94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7CD499-5F4A-42A5-8068-7C4C58B63BD9}">
  <ds:schemaRefs>
    <ds:schemaRef ds:uri="http://schemas.openxmlformats.org/package/2006/metadata/core-properties"/>
    <ds:schemaRef ds:uri="http://schemas.microsoft.com/office/2006/metadata/properties"/>
    <ds:schemaRef ds:uri="http://purl.org/dc/elements/1.1/"/>
    <ds:schemaRef ds:uri="http://schemas.microsoft.com/office/infopath/2007/PartnerControls"/>
    <ds:schemaRef ds:uri="http://purl.org/dc/dcmitype/"/>
    <ds:schemaRef ds:uri="http://schemas.microsoft.com/office/2006/documentManagement/types"/>
    <ds:schemaRef ds:uri="b8f38329-fe82-4838-8fdd-4280d7b6e94e"/>
    <ds:schemaRef ds:uri="http://www.w3.org/XML/1998/namespace"/>
    <ds:schemaRef ds:uri="http://purl.org/dc/terms/"/>
  </ds:schemaRefs>
</ds:datastoreItem>
</file>

<file path=customXml/itemProps2.xml><?xml version="1.0" encoding="utf-8"?>
<ds:datastoreItem xmlns:ds="http://schemas.openxmlformats.org/officeDocument/2006/customXml" ds:itemID="{8D3E8510-347C-488F-90AC-6506B782AE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f38329-fe82-4838-8fdd-4280d7b6e94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48BE7BF-29D8-4C20-8A32-3787C900441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TotalTime>
  <Words>290</Words>
  <Application>Microsoft Office PowerPoint</Application>
  <PresentationFormat>Widescreen</PresentationFormat>
  <Paragraphs>9</Paragraphs>
  <Slides>1</Slides>
  <Notes>1</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1</vt:i4>
      </vt:variant>
    </vt:vector>
  </HeadingPairs>
  <TitlesOfParts>
    <vt:vector size="5" baseType="lpstr">
      <vt:lpstr>Arial</vt:lpstr>
      <vt:lpstr>Calibri</vt:lpstr>
      <vt:lpstr>Times New Roman</vt:lpstr>
      <vt:lpstr>Office Theme</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Monica Puccini</dc:creator>
  <cp:lastModifiedBy>Dario Guidi</cp:lastModifiedBy>
  <cp:revision>24</cp:revision>
  <dcterms:created xsi:type="dcterms:W3CDTF">2023-06-19T11:45:48Z</dcterms:created>
  <dcterms:modified xsi:type="dcterms:W3CDTF">2026-07-19T11:32:21Z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0x01010075DAC3ED0EBB8B4F9FE54EF51318C557</vt:lpwstr>
  </property>
</Properties>
</file>