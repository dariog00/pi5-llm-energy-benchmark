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7"/>
  </p:notesMasterIdLst>
  <p:handoutMasterIdLst>
    <p:handoutMasterId r:id="rId8"/>
  </p:handoutMasterIdLst>
  <p:sldIdLst>
    <p:sldId id="722" r:id="rId3"/>
    <p:sldId id="1026" r:id="rId4"/>
    <p:sldId id="1027" r:id="rId5"/>
    <p:sldId id="1028" r:id="rId6"/>
  </p:sldIdLst>
  <p:sldSz cx="9144000" cy="6858000" type="screen4x3"/>
  <p:notesSz cx="7099300" cy="10234613"/>
  <p:defaultTextStyle>
    <a:defPPr>
      <a:defRPr lang="it-IT"/>
    </a:defPPr>
    <a:lvl1pPr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33CC"/>
    <a:srgbClr val="006699"/>
    <a:srgbClr val="000066"/>
    <a:srgbClr val="0066FF"/>
    <a:srgbClr val="0066CC"/>
    <a:srgbClr val="E3E3FF"/>
    <a:srgbClr val="9999FF"/>
    <a:srgbClr val="99CC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8" autoAdjust="0"/>
    <p:restoredTop sz="98757" autoAdjust="0"/>
  </p:normalViewPr>
  <p:slideViewPr>
    <p:cSldViewPr>
      <p:cViewPr varScale="1">
        <p:scale>
          <a:sx n="124" d="100"/>
          <a:sy n="124" d="100"/>
        </p:scale>
        <p:origin x="152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6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18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C1B76BBF-8223-4799-95C3-859F065E8F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684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0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 smtClean="0"/>
              <a:t>Fare clic per modificare gli stili del testo dello schema</a:t>
            </a:r>
          </a:p>
          <a:p>
            <a:pPr lvl="1"/>
            <a:r>
              <a:rPr lang="it-IT" noProof="0" smtClean="0"/>
              <a:t>Secondo livello</a:t>
            </a:r>
          </a:p>
          <a:p>
            <a:pPr lvl="2"/>
            <a:r>
              <a:rPr lang="it-IT" noProof="0" smtClean="0"/>
              <a:t>Terzo livello</a:t>
            </a:r>
          </a:p>
          <a:p>
            <a:pPr lvl="3"/>
            <a:r>
              <a:rPr lang="it-IT" noProof="0" smtClean="0"/>
              <a:t>Quarto livello</a:t>
            </a:r>
          </a:p>
          <a:p>
            <a:pPr lvl="4"/>
            <a:r>
              <a:rPr lang="it-IT" noProof="0" smtClean="0"/>
              <a:t>Quinto livello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C11F25B-D58C-4A79-8AD6-38119B174837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706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364B05ED-9CA2-4935-8602-1081F943AF8B}" type="slidenum">
              <a:rPr lang="it-IT" smtClean="0"/>
              <a:pPr defTabSz="989013"/>
              <a:t>1</a:t>
            </a:fld>
            <a:endParaRPr lang="it-IT" smtClean="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t>Buongiorno. Presento la mia tesi: la valutazione del consumo energetico di Large Language Model quantizzati eseguiti localmente su un dispositivo dell’Internet delle Cose, il Raspberry Pi 5. Relatore il professor Alessio Vecchio.</a:t>
            </a:r>
          </a:p>
        </p:txBody>
      </p:sp>
    </p:spTree>
    <p:extLst>
      <p:ext uri="{BB962C8B-B14F-4D97-AF65-F5344CB8AC3E}">
        <p14:creationId xmlns:p14="http://schemas.microsoft.com/office/powerpoint/2010/main" val="329083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modelli linguistici di grandi dimensioni sono ormai ovunque, ma consumano molta energia. Un’alternativa al cloud è eseguirli direttamente sui dispositivi edge, vicino all’utente: più privacy, meno latenza, meno dipendenza dalla rete. Questo è possibile grazie alla quantizzazione, che riduce la precisione dei pesi. La domanda della tesi è: un piccolo dispositivo come il Raspberry Pi 5 riesce davvero a eseguire questi modelli in modo efficiente, e a quale prezzo in termini di energia, qualità e velocità?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11F25B-D58C-4A79-8AD6-38119B174837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9737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 valutato sei modelli: tre famiglie — qwen, gemma e Llama, da 1,5 a 3 miliardi di parametri — ciascuna in due livelli di quantizzazione, 4 e 8 bit, eseguiti con llama.cpp. Il punto di forza del metodo è la misura del consumo: leggo la potenza direttamente dal chip di gestione dell’alimentazione del Raspberry Pi, sommando i dodici rami interni, senza bisogno di alcuno strumento esterno. La qualità è valutata su cinque benchmark standard, dal ragionamento alla matematica al codice. Il tutto è organizzato in due campagne: la prima confronta i modelli a parità di condizioni, la seconda studia l’effetto del numero di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risultati. La configurazione migliore è il modello più piccolo, qwen a 4 bit con 2 thread: il miglior compromesso tra energia, qualità e latenza. La quantizzazione a 4 bit si è rivelata conveniente: stessa qualità degli 8 bit, ma circa il 18% di energia in meno e una latenza inferiore. Sul parallelismo, 2 thread sono l’ottimo: oltre non si guadagna, perché il collo di bottiglia diventa la banda di memoria. In conclusione, il Raspberry Pi 5 è in grado di eseguire modelli fino a circa 3 miliardi di parametri quantizzati senza surriscaldarsi. Grazie per l’attenzione.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5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 userDrawn="1"/>
        </p:nvSpPr>
        <p:spPr bwMode="auto">
          <a:xfrm>
            <a:off x="323850" y="4048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20713"/>
            <a:ext cx="7772400" cy="2087562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algn="ctr">
              <a:defRPr>
                <a:latin typeface="Franklin Gothic Demi" pitchFamily="34" charset="0"/>
              </a:defRPr>
            </a:lvl1pPr>
          </a:lstStyle>
          <a:p>
            <a:r>
              <a:rPr lang="it-IT"/>
              <a:t>Energy-efficient Data Collection in Wireless Sensor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3284538"/>
            <a:ext cx="8064500" cy="32400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27584" y="44450"/>
            <a:ext cx="7344866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it-IT" dirty="0" smtClean="0"/>
              <a:t>Fare clic per modificare stili del testo dello schema</a:t>
            </a:r>
          </a:p>
          <a:p>
            <a:pPr lvl="1"/>
            <a:r>
              <a:rPr lang="it-IT" dirty="0" smtClean="0"/>
              <a:t>Secondo livello</a:t>
            </a:r>
          </a:p>
          <a:p>
            <a:pPr lvl="2"/>
            <a:r>
              <a:rPr lang="it-IT" dirty="0" smtClean="0"/>
              <a:t>Terzo livello</a:t>
            </a:r>
          </a:p>
          <a:p>
            <a:pPr lvl="3"/>
            <a:r>
              <a:rPr lang="it-IT" dirty="0" smtClean="0"/>
              <a:t>Quarto livello</a:t>
            </a:r>
          </a:p>
          <a:p>
            <a:pPr lvl="4"/>
            <a:r>
              <a:rPr lang="it-IT" dirty="0" smtClean="0"/>
              <a:t>Quinto livello</a:t>
            </a:r>
            <a:endParaRPr lang="it-IT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" y="-14395"/>
            <a:ext cx="791310" cy="80779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8172450" y="0"/>
            <a:ext cx="954087" cy="9540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8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82" y="61285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3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715125" y="44450"/>
            <a:ext cx="2178050" cy="6697663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383337" cy="6697663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olo e testo sopra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olo, testo e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lipArt 3"/>
          <p:cNvSpPr>
            <a:spLocks noGrp="1"/>
          </p:cNvSpPr>
          <p:nvPr>
            <p:ph type="clipArt"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endParaRPr lang="it-IT" noProof="0" smtClean="0"/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250825" y="981075"/>
            <a:ext cx="8642350" cy="5761038"/>
          </a:xfrm>
        </p:spPr>
        <p:txBody>
          <a:bodyPr/>
          <a:lstStyle/>
          <a:p>
            <a:pPr lvl="0"/>
            <a:endParaRPr lang="it-IT" noProof="0" smtClean="0"/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0825" y="981075"/>
            <a:ext cx="4244975" cy="2803525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250825" y="3937000"/>
            <a:ext cx="4244975" cy="2805113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‹N›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 userDrawn="1"/>
        </p:nvSpPr>
        <p:spPr bwMode="auto">
          <a:xfrm>
            <a:off x="323850" y="10525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39750" y="4292600"/>
            <a:ext cx="8064500" cy="1860550"/>
          </a:xfrm>
          <a:prstGeom prst="roundRect">
            <a:avLst>
              <a:gd name="adj" fmla="val 6986"/>
            </a:avLst>
          </a:prstGeom>
          <a:solidFill>
            <a:schemeClr val="bg1">
              <a:alpha val="7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1268413"/>
            <a:ext cx="8135937" cy="216058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424363"/>
            <a:ext cx="7127875" cy="1655762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800">
                <a:latin typeface="Franklin Gothic Medium Cond" pitchFamily="34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6311900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6311900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13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Freeform 27"/>
          <p:cNvSpPr>
            <a:spLocks/>
          </p:cNvSpPr>
          <p:nvPr userDrawn="1"/>
        </p:nvSpPr>
        <p:spPr bwMode="auto">
          <a:xfrm>
            <a:off x="-36513" y="-26988"/>
            <a:ext cx="8280401" cy="793751"/>
          </a:xfrm>
          <a:custGeom>
            <a:avLst/>
            <a:gdLst/>
            <a:ahLst/>
            <a:cxnLst>
              <a:cxn ang="0">
                <a:pos x="4990" y="499"/>
              </a:cxn>
              <a:cxn ang="0">
                <a:pos x="0" y="499"/>
              </a:cxn>
              <a:cxn ang="0">
                <a:pos x="0" y="0"/>
              </a:cxn>
              <a:cxn ang="0">
                <a:pos x="5063" y="5"/>
              </a:cxn>
              <a:cxn ang="0">
                <a:pos x="5219" y="5"/>
              </a:cxn>
              <a:cxn ang="0">
                <a:pos x="4990" y="497"/>
              </a:cxn>
              <a:cxn ang="0">
                <a:pos x="4988" y="497"/>
              </a:cxn>
              <a:cxn ang="0">
                <a:pos x="4990" y="499"/>
              </a:cxn>
            </a:cxnLst>
            <a:rect l="0" t="0" r="r" b="b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576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44450"/>
            <a:ext cx="799306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Fare clic per modificare lo stile del titolo</a:t>
            </a:r>
          </a:p>
        </p:txBody>
      </p:sp>
      <p:grpSp>
        <p:nvGrpSpPr>
          <p:cNvPr id="24581" name="Group 33"/>
          <p:cNvGrpSpPr>
            <a:grpSpLocks/>
          </p:cNvGrpSpPr>
          <p:nvPr userDrawn="1"/>
        </p:nvGrpSpPr>
        <p:grpSpPr bwMode="auto">
          <a:xfrm>
            <a:off x="8243888" y="0"/>
            <a:ext cx="762000" cy="960438"/>
            <a:chOff x="4656" y="672"/>
            <a:chExt cx="480" cy="605"/>
          </a:xfrm>
        </p:grpSpPr>
        <p:grpSp>
          <p:nvGrpSpPr>
            <p:cNvPr id="24583" name="Group 34"/>
            <p:cNvGrpSpPr>
              <a:grpSpLocks/>
            </p:cNvGrpSpPr>
            <p:nvPr/>
          </p:nvGrpSpPr>
          <p:grpSpPr bwMode="auto">
            <a:xfrm>
              <a:off x="4656" y="672"/>
              <a:ext cx="480" cy="576"/>
              <a:chOff x="5280" y="0"/>
              <a:chExt cx="480" cy="576"/>
            </a:xfrm>
          </p:grpSpPr>
          <p:pic>
            <p:nvPicPr>
              <p:cNvPr id="24585" name="Picture 35" descr="images-3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5280" y="0"/>
                <a:ext cx="480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60" name="Rectangle 36"/>
              <p:cNvSpPr>
                <a:spLocks noChangeArrowheads="1"/>
              </p:cNvSpPr>
              <p:nvPr/>
            </p:nvSpPr>
            <p:spPr bwMode="auto">
              <a:xfrm>
                <a:off x="5280" y="480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it-IT"/>
              </a:p>
            </p:txBody>
          </p:sp>
        </p:grpSp>
        <p:sp>
          <p:nvSpPr>
            <p:cNvPr id="1061" name="Text Box 37"/>
            <p:cNvSpPr txBox="1">
              <a:spLocks noChangeArrowheads="1"/>
            </p:cNvSpPr>
            <p:nvPr/>
          </p:nvSpPr>
          <p:spPr bwMode="auto">
            <a:xfrm>
              <a:off x="4656" y="1104"/>
              <a:ext cx="4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300" b="1">
                  <a:solidFill>
                    <a:srgbClr val="003366"/>
                  </a:solidFill>
                  <a:latin typeface="Courier New" pitchFamily="49" charset="0"/>
                </a:rPr>
                <a:t> </a:t>
              </a:r>
              <a:r>
                <a:rPr lang="en-US" sz="1200" b="1">
                  <a:solidFill>
                    <a:srgbClr val="000080"/>
                  </a:solidFill>
                  <a:latin typeface="Courier New" pitchFamily="49" charset="0"/>
                </a:rPr>
                <a:t>PerLab</a:t>
              </a:r>
            </a:p>
          </p:txBody>
        </p:sp>
      </p:grpSp>
      <p:sp>
        <p:nvSpPr>
          <p:cNvPr id="10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5" r:id="rId1"/>
    <p:sldLayoutId id="2147484756" r:id="rId2"/>
    <p:sldLayoutId id="2147484731" r:id="rId3"/>
    <p:sldLayoutId id="2147484757" r:id="rId4"/>
    <p:sldLayoutId id="2147484732" r:id="rId5"/>
    <p:sldLayoutId id="2147484758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  <p:sldLayoutId id="2147484744" r:id="rId18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0080"/>
        </a:buClr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200">
          <a:solidFill>
            <a:schemeClr val="tx1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Sommario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95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45" r:id="rId2"/>
    <p:sldLayoutId id="2147484746" r:id="rId3"/>
    <p:sldLayoutId id="2147484747" r:id="rId4"/>
    <p:sldLayoutId id="2147484748" r:id="rId5"/>
    <p:sldLayoutId id="2147484749" r:id="rId6"/>
    <p:sldLayoutId id="2147484750" r:id="rId7"/>
    <p:sldLayoutId id="2147484751" r:id="rId8"/>
    <p:sldLayoutId id="2147484752" r:id="rId9"/>
    <p:sldLayoutId id="2147484753" r:id="rId10"/>
    <p:sldLayoutId id="2147484754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Font typeface="Wingdings" pitchFamily="2" charset="2"/>
        <a:buChar char="§"/>
        <a:defRPr sz="2800">
          <a:solidFill>
            <a:schemeClr val="hlink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400">
          <a:solidFill>
            <a:schemeClr val="hlink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04665"/>
            <a:ext cx="8496944" cy="2606782"/>
          </a:xfrm>
          <a:effectLst>
            <a:outerShdw dist="35921" dir="2700000" algn="ctr" rotWithShape="0">
              <a:schemeClr val="tx2">
                <a:alpha val="50000"/>
              </a:scheme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it-IT" sz="4400" dirty="0" smtClean="0"/>
              <a:t>Valutazione del consumo energetico di Large Language Model in dispositivi dell’Internet delle Cose</a:t>
            </a:r>
            <a:endParaRPr lang="it-IT" sz="2400" dirty="0" smtClean="0">
              <a:latin typeface="+mj-lt"/>
            </a:endParaRPr>
          </a:p>
        </p:txBody>
      </p:sp>
      <p:pic>
        <p:nvPicPr>
          <p:cNvPr id="31748" name="Picture 34" descr="marchio_unipi_pant541_2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1364" y="5445224"/>
            <a:ext cx="1920875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539552" y="3284984"/>
            <a:ext cx="8064500" cy="1812776"/>
          </a:xfrm>
        </p:spPr>
        <p:txBody>
          <a:bodyPr anchor="b"/>
          <a:lstStyle/>
          <a:p>
            <a:pPr algn="ctr">
              <a:lnSpc>
                <a:spcPct val="90000"/>
              </a:lnSpc>
            </a:pPr>
            <a:endParaRPr lang="en-US" altLang="it-IT" sz="2800" b="1" dirty="0" smtClean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 smtClean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 smtClean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 smtClean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 smtClean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800" dirty="0" smtClean="0"/>
          </a:p>
          <a:p>
            <a:pPr algn="ctr">
              <a:lnSpc>
                <a:spcPct val="90000"/>
              </a:lnSpc>
            </a:pPr>
            <a:endParaRPr lang="en-US" altLang="it-IT" sz="1600" dirty="0" smtClean="0"/>
          </a:p>
          <a:p>
            <a:pPr algn="ctr">
              <a:lnSpc>
                <a:spcPct val="90000"/>
              </a:lnSpc>
            </a:pPr>
            <a:endParaRPr lang="en-US" altLang="it-IT" sz="1600" dirty="0" smtClean="0"/>
          </a:p>
          <a:p>
            <a:pPr algn="ctr">
              <a:lnSpc>
                <a:spcPct val="90000"/>
              </a:lnSpc>
            </a:pPr>
            <a:endParaRPr lang="en-US" altLang="it-IT" sz="1600" dirty="0" smtClean="0"/>
          </a:p>
          <a:p>
            <a:pPr algn="ctr">
              <a:lnSpc>
                <a:spcPct val="90000"/>
              </a:lnSpc>
            </a:pPr>
            <a:endParaRPr lang="en-US" altLang="it-IT" sz="160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2126934" y="3098680"/>
            <a:ext cx="488973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 smtClean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Tesi di Laurea in </a:t>
            </a:r>
          </a:p>
          <a:p>
            <a:r>
              <a:rPr lang="it-IT" dirty="0" smtClean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Ingegneria Informatica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560" y="4634101"/>
            <a:ext cx="19857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000" b="1" dirty="0" smtClean="0">
                <a:solidFill>
                  <a:srgbClr val="003366"/>
                </a:solidFill>
                <a:latin typeface="Calibri" panose="020F0502020204030204" pitchFamily="34" charset="0"/>
              </a:rPr>
              <a:t>Candidato</a:t>
            </a:r>
          </a:p>
          <a:p>
            <a:pPr marL="87313" algn="just"/>
            <a:r>
              <a:rPr lang="it-IT" sz="2000" dirty="0" smtClean="0">
                <a:solidFill>
                  <a:srgbClr val="003366"/>
                </a:solidFill>
                <a:latin typeface="Calibri" panose="020F0502020204030204" pitchFamily="34" charset="0"/>
              </a:rPr>
              <a:t>Dario Guidi</a:t>
            </a:r>
            <a:endParaRPr lang="it-IT" sz="2800" dirty="0" smtClean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4168" y="4591403"/>
            <a:ext cx="29523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 smtClean="0">
                <a:solidFill>
                  <a:srgbClr val="003366"/>
                </a:solidFill>
                <a:latin typeface="Calibri" panose="020F0502020204030204" pitchFamily="34" charset="0"/>
              </a:rPr>
              <a:t>Relatore</a:t>
            </a:r>
          </a:p>
          <a:p>
            <a:pPr marL="87313" algn="just"/>
            <a:r>
              <a:rPr lang="it-IT" sz="2000" dirty="0" smtClean="0">
                <a:solidFill>
                  <a:srgbClr val="003366"/>
                </a:solidFill>
                <a:latin typeface="Calibri" panose="020F0502020204030204" pitchFamily="34" charset="0"/>
              </a:rPr>
              <a:t>Prof. Alessio Vecchio</a:t>
            </a:r>
          </a:p>
          <a:p>
            <a:pPr marL="87313" algn="just"/>
            <a:r>
              <a:rPr lang="it-IT" sz="2000" dirty="0" smtClean="0">
                <a:solidFill>
                  <a:srgbClr val="003366"/>
                </a:solidFill>
                <a:latin typeface="Calibri" panose="020F0502020204030204" pitchFamily="34" charset="0"/>
              </a:rPr>
              <a:t/>
            </a:r>
          </a:p>
          <a:p>
            <a:pPr marL="87313" algn="just"/>
            <a:r>
              <a:rPr lang="it-IT" sz="2000" dirty="0" smtClean="0">
                <a:solidFill>
                  <a:srgbClr val="003366"/>
                </a:solidFill>
                <a:latin typeface="Calibri" panose="020F0502020204030204" pitchFamily="34" charset="0"/>
              </a:rPr>
              <a:t/>
            </a:r>
            <a:endParaRPr lang="it-IT" sz="2800" dirty="0" smtClean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Introduzione e Problema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919531"/>
            <a:ext cx="8642350" cy="5761038"/>
          </a:xfrm>
        </p:spPr>
        <p:txBody>
          <a:bodyPr/>
          <a:lstStyle/>
          <a:p>
            <a:r>
              <a:rPr lang="it-IT" dirty="0" smtClean="0"/>
              <a:t>I Large Language Model si stanno diffondendo rapidamente, ma comportano consumi energetici elevati. Eseguirli localmente su dispositivi edge/IoT, grazie alla quantizzazione, è una via verso un’IA più sostenibile (Green Edge AI).</a:t>
            </a:r>
          </a:p>
          <a:p>
            <a:r>
              <a:rPr lang="it-IT" dirty="0" smtClean="0"/>
              <a:t>Problema</a:t>
            </a:r>
          </a:p>
          <a:p>
            <a:pPr lvl="1"/>
            <a:r>
              <a:rPr lang="it-IT" dirty="0" smtClean="0"/>
              <a:t>Un dispositivo a risorse limitate come il Raspberry Pi 5 può eseguire LLM quantizzati in modo efficiente? E con quale compromesso tra consumo energetico, qualità delle risposte e latenza?</a:t>
            </a:r>
          </a:p>
          <a:p>
            <a:endParaRPr lang="it-IT" dirty="0" smtClean="0"/>
          </a:p>
          <a:p>
            <a:endParaRPr lang="it-IT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Dario Guidi</a:t>
            </a:r>
            <a:r>
              <a:rPr lang="en-US" sz="1100" i="1" dirty="0" err="1" smtClean="0">
                <a:latin typeface="Calibri" panose="020F0502020204030204" pitchFamily="34" charset="0"/>
              </a:rPr>
              <a:t/>
            </a:r>
            <a:r>
              <a:rPr lang="en-US" sz="1100" i="1" dirty="0" smtClean="0">
                <a:latin typeface="Calibri" panose="020F0502020204030204" pitchFamily="34" charset="0"/>
              </a:rPr>
              <a:t/>
            </a:r>
            <a:r>
              <a:rPr lang="en-US" sz="1100" i="1" dirty="0" err="1" smtClean="0">
                <a:latin typeface="Calibri" panose="020F0502020204030204" pitchFamily="34" charset="0"/>
              </a:rPr>
              <a:t/>
            </a:r>
            <a:r>
              <a:rPr lang="en-US" sz="1100" dirty="0">
                <a:latin typeface="Calibri" panose="020F0502020204030204" pitchFamily="34" charset="0"/>
              </a:rPr>
              <a:t>						</a:t>
            </a:r>
            <a:r>
              <a:rPr lang="en-US" sz="1100" dirty="0" smtClean="0">
                <a:latin typeface="Calibri" panose="020F0502020204030204" pitchFamily="34" charset="0"/>
              </a:rPr>
              <a:t>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2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3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Procedura sperimentale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6 modelli quantizzati</a:t>
            </a:r>
          </a:p>
          <a:p>
            <a:pPr lvl="1"/>
            <a:r>
              <a:rPr lang="it-IT" dirty="0" smtClean="0"/>
              <a:t>qwen 1.5B, gemma 2B, Llama 3B — a 4 e 8 bit — eseguiti con llama.cpp</a:t>
            </a:r>
          </a:p>
          <a:p>
            <a:r>
              <a:rPr lang="it-IT" dirty="0" smtClean="0"/>
              <a:t>Consumo misurato dal PMIC</a:t>
            </a:r>
          </a:p>
          <a:p>
            <a:pPr lvl="1"/>
            <a:r>
              <a:rPr lang="it-IT" dirty="0" smtClean="0"/>
              <a:t>potenza letta dai 12 rami interni del Raspberry Pi 5, senza strumenti esterni</a:t>
            </a:r>
          </a:p>
          <a:p>
            <a:r>
              <a:rPr lang="it-IT" dirty="0" smtClean="0"/>
              <a:t>5 benchmark</a:t>
            </a:r>
          </a:p>
          <a:p>
            <a:pPr lvl="1"/>
            <a:r>
              <a:rPr lang="it-IT" dirty="0" smtClean="0"/>
              <a:t>CommonsenseQA, BIG-Bench Hard, TruthfulQA, GSM8K, HumanEval: energia, qualità e latenza</a:t>
            </a:r>
          </a:p>
          <a:p>
            <a:r>
              <a:rPr lang="it-IT" dirty="0" smtClean="0"/>
              <a:t>Due campagne di misura</a:t>
            </a:r>
          </a:p>
          <a:p>
            <a:pPr lvl="1"/>
            <a:r>
              <a:rPr lang="it-IT" dirty="0" smtClean="0"/>
              <a:t>A: confronto tra i modelli (2 thread); B: effetto del parallelismo (1, 2, 4 thread)</a:t>
            </a:r>
            <a:endParaRPr lang="it-IT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Dario Guidi</a:t>
            </a:r>
            <a:r>
              <a:rPr lang="en-US" sz="1100" i="1" dirty="0" err="1" smtClean="0">
                <a:latin typeface="Calibri" panose="020F0502020204030204" pitchFamily="34" charset="0"/>
              </a:rPr>
              <a:t/>
            </a:r>
            <a:r>
              <a:rPr lang="en-US" sz="1100" i="1" smtClean="0">
                <a:latin typeface="Calibri" panose="020F0502020204030204" pitchFamily="34" charset="0"/>
              </a:rPr>
              <a:t/>
            </a:r>
            <a:r>
              <a:rPr lang="en-US" sz="1100" i="1" smtClean="0">
                <a:latin typeface="Calibri" panose="020F0502020204030204" pitchFamily="34" charset="0"/>
              </a:rPr>
              <a:t/>
            </a:r>
            <a:r>
              <a:rPr lang="en-US" sz="1100" dirty="0">
                <a:latin typeface="Calibri" panose="020F0502020204030204" pitchFamily="34" charset="0"/>
              </a:rPr>
              <a:t>						</a:t>
            </a:r>
            <a:r>
              <a:rPr lang="en-US" sz="1100" dirty="0" smtClean="0">
                <a:latin typeface="Calibri" panose="020F0502020204030204" pitchFamily="34" charset="0"/>
              </a:rPr>
              <a:t>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3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62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Risultati e conclusioni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Sintesi dei risultati</a:t>
            </a:r>
          </a:p>
          <a:p>
            <a:pPr lvl="1"/>
            <a:r>
              <a:rPr lang="it-IT" dirty="0" smtClean="0"/>
              <a:t>Miglior configurazione</a:t>
            </a:r>
          </a:p>
          <a:p>
            <a:pPr lvl="2"/>
            <a:r>
              <a:rPr lang="it-IT" dirty="0" smtClean="0"/>
              <a:t>qwen2.5-1.5B a 4 bit, 2 thread: miglior compromesso energia–qualità–latenza</a:t>
            </a:r>
          </a:p>
          <a:p>
            <a:pPr lvl="1"/>
            <a:r>
              <a:rPr lang="it-IT" dirty="0" smtClean="0"/>
              <a:t>Quantizzazione a 4 bit conveniente</a:t>
            </a:r>
          </a:p>
          <a:p>
            <a:pPr lvl="2"/>
            <a:r>
              <a:rPr lang="it-IT" dirty="0" smtClean="0"/>
              <a:t>qualità equivalente agli 8 bit, ma circa il 18% di energia in meno e minore latenza</a:t>
            </a:r>
          </a:p>
          <a:p>
            <a:pPr lvl="1"/>
            <a:r>
              <a:rPr lang="it-IT" dirty="0" smtClean="0"/>
              <a:t>Parallelismo: 2 thread ottimali</a:t>
            </a:r>
          </a:p>
          <a:p>
            <a:pPr lvl="2"/>
            <a:r>
              <a:rPr lang="it-IT" dirty="0" smtClean="0"/>
              <a:t>oltre i 2 thread non si guadagna (collo di bottiglia: la banda di memoria)</a:t>
            </a:r>
          </a:p>
          <a:p>
            <a:pPr lvl="1"/>
            <a:r>
              <a:rPr lang="it-IT" dirty="0" smtClean="0"/>
              <a:t>Raspberry Pi 5 adeguato</a:t>
            </a:r>
          </a:p>
          <a:p>
            <a:pPr lvl="2"/>
            <a:r>
              <a:rPr lang="it-IT" dirty="0" smtClean="0"/>
              <a:t>esegue LLM fino a ~3 miliardi di parametri quantizzati</a:t>
            </a:r>
          </a:p>
          <a:p>
            <a:pPr lvl="2"/>
            <a:r>
              <a:rPr lang="it-IT" dirty="0" smtClean="0"/>
              <a:t>senza incorrere in throttling termico</a:t>
            </a:r>
            <a:endParaRPr lang="it-IT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 smtClean="0">
                <a:latin typeface="Calibri" panose="020F0502020204030204" pitchFamily="34" charset="0"/>
              </a:rPr>
              <a:t>Dario Guidi</a:t>
            </a:r>
            <a:r>
              <a:rPr lang="en-US" sz="1100" i="1" dirty="0" err="1" smtClean="0">
                <a:latin typeface="Calibri" panose="020F0502020204030204" pitchFamily="34" charset="0"/>
              </a:rPr>
              <a:t/>
            </a:r>
            <a:r>
              <a:rPr lang="en-US" sz="1100" i="1" dirty="0" smtClean="0">
                <a:latin typeface="Calibri" panose="020F0502020204030204" pitchFamily="34" charset="0"/>
              </a:rPr>
              <a:t/>
            </a:r>
            <a:r>
              <a:rPr lang="en-US" sz="1100" i="1" dirty="0" err="1" smtClean="0">
                <a:latin typeface="Calibri" panose="020F0502020204030204" pitchFamily="34" charset="0"/>
              </a:rPr>
              <a:t/>
            </a:r>
            <a:r>
              <a:rPr lang="en-US" sz="1100" dirty="0">
                <a:latin typeface="Calibri" panose="020F0502020204030204" pitchFamily="34" charset="0"/>
              </a:rPr>
              <a:t>						</a:t>
            </a:r>
            <a:r>
              <a:rPr lang="en-US" sz="1100" dirty="0" smtClean="0">
                <a:latin typeface="Calibri" panose="020F0502020204030204" pitchFamily="34" charset="0"/>
              </a:rPr>
              <a:t>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4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63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uttura predefinita">
  <a:themeElements>
    <a:clrScheme name="Struttura predefinita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009999"/>
      </a:hlink>
      <a:folHlink>
        <a:srgbClr val="006666"/>
      </a:folHlink>
    </a:clrScheme>
    <a:fontScheme name="Struttura predefinita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utline">
  <a:themeElements>
    <a:clrScheme name="Outline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4D4D4D"/>
      </a:hlink>
      <a:folHlink>
        <a:srgbClr val="006666"/>
      </a:folHlink>
    </a:clrScheme>
    <a:fontScheme name="Outline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Outli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utline 14">
    <a:dk1>
      <a:srgbClr val="000000"/>
    </a:dk1>
    <a:lt1>
      <a:srgbClr val="FFFFFF"/>
    </a:lt1>
    <a:dk2>
      <a:srgbClr val="000000"/>
    </a:dk2>
    <a:lt2>
      <a:srgbClr val="808080"/>
    </a:lt2>
    <a:accent1>
      <a:srgbClr val="61CB96"/>
    </a:accent1>
    <a:accent2>
      <a:srgbClr val="008080"/>
    </a:accent2>
    <a:accent3>
      <a:srgbClr val="FFFFFF"/>
    </a:accent3>
    <a:accent4>
      <a:srgbClr val="000000"/>
    </a:accent4>
    <a:accent5>
      <a:srgbClr val="B7E2C9"/>
    </a:accent5>
    <a:accent6>
      <a:srgbClr val="007373"/>
    </a:accent6>
    <a:hlink>
      <a:srgbClr val="009999"/>
    </a:hlink>
    <a:folHlink>
      <a:srgbClr val="0066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30645</TotalTime>
  <Words>146</Words>
  <Application>Microsoft Office PowerPoint</Application>
  <PresentationFormat>Presentazione su schermo (4:3)</PresentationFormat>
  <Paragraphs>52</Paragraphs>
  <Slides>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</vt:i4>
      </vt:variant>
    </vt:vector>
  </HeadingPairs>
  <TitlesOfParts>
    <vt:vector size="15" baseType="lpstr">
      <vt:lpstr>Arial</vt:lpstr>
      <vt:lpstr>Calibri</vt:lpstr>
      <vt:lpstr>Courier New</vt:lpstr>
      <vt:lpstr>Franklin Gothic Demi</vt:lpstr>
      <vt:lpstr>Franklin Gothic Demi Cond</vt:lpstr>
      <vt:lpstr>Franklin Gothic Heavy</vt:lpstr>
      <vt:lpstr>Franklin Gothic Medium</vt:lpstr>
      <vt:lpstr>Franklin Gothic Medium Cond</vt:lpstr>
      <vt:lpstr>Wingdings</vt:lpstr>
      <vt:lpstr>Struttura predefinita</vt:lpstr>
      <vt:lpstr>Outline</vt:lpstr>
      <vt:lpstr>Algoritmo Ottimo per il calcolo del Logaritmo</vt:lpstr>
      <vt:lpstr>Introduzione e Problema</vt:lpstr>
      <vt:lpstr>Soluzioni</vt:lpstr>
      <vt:lpstr>Risultati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e valutazione di un protocollo di power management per reti di sensori</dc:title>
  <dc:creator>Mdf</dc:creator>
  <cp:lastModifiedBy>Vittoria</cp:lastModifiedBy>
  <cp:revision>1206</cp:revision>
  <cp:lastPrinted>2016-05-24T07:18:58Z</cp:lastPrinted>
  <dcterms:created xsi:type="dcterms:W3CDTF">2005-03-30T13:34:00Z</dcterms:created>
  <dcterms:modified xsi:type="dcterms:W3CDTF">2016-07-18T15:30:11Z</dcterms:modified>
</cp:coreProperties>
</file>